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TC Avant Garde Gothic" charset="1" panose="020B0502020202020204"/>
      <p:regular r:id="rId20"/>
    </p:embeddedFont>
    <p:embeddedFont>
      <p:font typeface="TT Fors" charset="1" panose="020B0003030001020000"/>
      <p:regular r:id="rId21"/>
    </p:embeddedFont>
    <p:embeddedFont>
      <p:font typeface="TT Fors Bold" charset="1" panose="020B000303000102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Apex AI™ Readiness Framework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RELEASED GROUP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333333"/>
                </a:solidFill>
                <a:latin typeface="TT Fors"/>
                <a:ea typeface="TT Fors"/>
                <a:cs typeface="TT Fors"/>
                <a:sym typeface="TT Fors"/>
              </a:rPr>
              <a:t>Presented by [Presenter Name]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Transforming AI Advantage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From experimentation to 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Why AI Governance Matters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Addressing risks and compliance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Curiosity Without Control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challenges of unregulated AI adoption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19827"/>
            <a:chOff x="0" y="0"/>
            <a:chExt cx="9182100" cy="2559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AI tools are often embraced by enthusiastic employees, leading to </a:t>
              </a:r>
              <a:r>
                <a:rPr lang="en-US" b="true" sz="2073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uncontrolled experimentation</a:t>
              </a: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and potential risks without formal oversight and guidelines.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Bottom-Up Adoption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19827"/>
            <a:chOff x="0" y="0"/>
            <a:chExt cx="9182100" cy="2559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As AI usage expands, existing policies and risk registers fail to keep pace, leaving organizations vulnerable to compliance issues and data breaches.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Lagging Policies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19827"/>
            <a:chOff x="0" y="0"/>
            <a:chExt cx="9182100" cy="25597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Productivity improvements attributed to AI are frequently based on </a:t>
              </a:r>
              <a:r>
                <a:rPr lang="en-US" b="true" sz="2073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anecdotes</a:t>
              </a: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rather than measurable outcomes, resulting in uncertain ROI for organizations.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Anecdotal Gains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Apex AI™ Maturity Model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From Exposure to Optimisation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3762375"/>
            <a:chOff x="0" y="0"/>
            <a:chExt cx="815850" cy="44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445727"/>
            </a:xfrm>
            <a:custGeom>
              <a:avLst/>
              <a:gdLst/>
              <a:ahLst/>
              <a:cxnLst/>
              <a:rect r="r" b="b" t="t" l="l"/>
              <a:pathLst>
                <a:path h="445727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t="0" r="-3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4733925"/>
            <a:ext cx="6886575" cy="4886325"/>
            <a:chOff x="0" y="0"/>
            <a:chExt cx="815850" cy="578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4" t="0" r="-1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Apex AI™ Maturity Model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Diagnostic Criteria and Roadmaps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133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The model includes </a:t>
              </a:r>
              <a:r>
                <a:rPr lang="en-US" b="true" sz="2100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clear diagnostic criteria</a:t>
              </a: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to evaluate AI maturity, an objective maturity index score, and structured roadmaps for prioritisation and strategic planning.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66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Stage 1 – Exposure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27517"/>
            <a:chOff x="0" y="0"/>
            <a:chExt cx="9182100" cy="230335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23121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The absence of </a:t>
              </a:r>
              <a:r>
                <a:rPr lang="en-US" b="true" sz="1995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monitoring mechanisms</a:t>
              </a: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hinders visibility into AI usage, making it difficult to identify inefficiencies and potential risks associated with operations.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 Monitoring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27517"/>
            <a:chOff x="0" y="0"/>
            <a:chExt cx="9182100" cy="230335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23121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Many organisations face </a:t>
              </a:r>
              <a:r>
                <a:rPr lang="en-US" b="true" sz="1995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unregulated AI usage</a:t>
              </a: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, resulting in shadow projects that undermine strategic alignment with business objectives and policies.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Uncontrolled AI Usage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27517"/>
            <a:chOff x="0" y="0"/>
            <a:chExt cx="9182100" cy="230335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23121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High unmanaged data risks arise due to lack of compliance and oversight, exposing organisations to potential breaches and reputational damage.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High Data Risk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27517"/>
            <a:chOff x="0" y="0"/>
            <a:chExt cx="9182100" cy="23033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23121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Without a </a:t>
              </a:r>
              <a:r>
                <a:rPr lang="en-US" b="true" sz="1995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formal AI policy</a:t>
              </a: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, organisations struggle to provide clear guidelines for usage, leading to inconsistent practices across teams and departments.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 Formal Policy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66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Stage 2 – Awareness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While some informal guidelines may exist, they are typically not standardized or communicated effectively, creating confusion and risk.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Informal Guidelines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Organizations are beginning to explore AI through initial pilot projects, often without a formal structure or comprehensive strategy.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Early AI Pilots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Return on investment for AI initiatives remains largely unmeasured, hindering the ability to assess effectiveness and financial impact.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ROI Not Formalised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Governance around AI initiatives is often scattered, leading to inconsistencies in implementation and oversight across different teams and departments.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Fragmented Governance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66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Stage 3 – Alignment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672368"/>
            <a:chOff x="0" y="0"/>
            <a:chExt cx="9182100" cy="22298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2646"/>
              <a:ext cx="9182100" cy="129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</a:pP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Implementing an </a:t>
              </a:r>
              <a:r>
                <a:rPr lang="en-US" b="true" sz="1916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AI risk register</a:t>
              </a: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promotes proactive identification and management of potential risks, ensuring compliance and safeguarding organizational assets.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Risk Register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672368"/>
            <a:chOff x="0" y="0"/>
            <a:chExt cx="9182100" cy="22298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2646"/>
              <a:ext cx="9182100" cy="129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</a:pP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Establishing a </a:t>
              </a:r>
              <a:r>
                <a:rPr lang="en-US" b="true" sz="1916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formal AI policy</a:t>
              </a: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ensures clarity in governance and risk management, driving accountability and strategic direction across the organization.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Formal AI Policy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672368"/>
            <a:chOff x="0" y="0"/>
            <a:chExt cx="9182100" cy="222982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2646"/>
              <a:ext cx="9182100" cy="129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</a:pP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Initiating </a:t>
              </a:r>
              <a:r>
                <a:rPr lang="en-US" b="true" sz="1916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basic ROI tracking</a:t>
              </a: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metrics enables organizations to measure the effectiveness of AI implementations and justify continued investment in AI technologies.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Basic ROI Tracking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672368"/>
            <a:chOff x="0" y="0"/>
            <a:chExt cx="9182100" cy="222982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2646"/>
              <a:ext cx="9182100" cy="129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</a:pP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Identifying and defining </a:t>
              </a:r>
              <a:r>
                <a:rPr lang="en-US" b="true" sz="1916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specific use cases</a:t>
              </a:r>
              <a:r>
                <a:rPr lang="en-US" sz="1916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 across departments maximizes AI's impact, aligning initiatives with business objectives and operational goals.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 Cases Defined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66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Stage 4 – Integration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Centralized logging practices ensure comprehensive monitoring of AI usage, providing valuable insights into performance and potential issues for stakeholders.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Centralised Logging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AI technologies are seamlessly integrated into core workflows, enhancing operational efficiency and enabling better decision-making across departments.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Embedded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Effective executive oversight is established, ensuring alignment with strategic objectives and accountability for AI governance throughout the organization.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Executive Oversight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Robust API integrations facilitate data exchange between systems, allowing for real-time insights and improving overall organizational agility.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API Integrations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2533650"/>
            <a:chOff x="0" y="0"/>
            <a:chExt cx="9182100" cy="3378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Optimisation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61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Achieving continuous improvement and strategic advantage through AI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19827"/>
            <a:chOff x="0" y="0"/>
            <a:chExt cx="9182100" cy="2559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Continuous improvement cycles allow organisations to refine AI applications, ensuring they remain effective and aligned with business objectives over time.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Continuous Improvement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19827"/>
            <a:chOff x="0" y="0"/>
            <a:chExt cx="9182100" cy="2559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Integrating AI performance metrics into board-level reporting facilitates informed decision-making and aligns AI initiatives with overall corporate governance.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Board-Level Reporting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281777"/>
            <a:chOff x="0" y="0"/>
            <a:chExt cx="9182100" cy="30423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57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Establishing clear performance metrics enables organisations to measure AI's impact on productivity and profitability, driving data-driven enhancements and strategic focus.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Performance Metrics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Assessment Pillars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components of a successful AI governance 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886204"/>
            <a:chOff x="0" y="0"/>
            <a:chExt cx="9182100" cy="251493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703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Strong leadership is essential for guiding AI initiatives, ensuring strategic alignment, and fostering a culture of innovation and accountability.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Strategy &amp; Leadership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886204"/>
            <a:chOff x="0" y="0"/>
            <a:chExt cx="9182100" cy="251493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703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Establishing comprehensive policies and compliance frameworks mitigates risks associated with AI deployment, enhancing organisational security and stakeholder trust.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Risk &amp; Governance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238629"/>
            <a:chOff x="0" y="0"/>
            <a:chExt cx="9182100" cy="298483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703"/>
              <a:ext cx="9182100" cy="1850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Robust technological infrastructure enables efficient AI integration, supports data security, and improves monitoring capabilities for effective governance and performance tracking.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Technology &amp; Architecture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Client Deliverables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Comprehensive insights for informed decision-making and 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This scorecard provides a clear view of the client's </a:t>
              </a:r>
              <a:r>
                <a:rPr lang="en-US" b="true" sz="2100">
                  <a:solidFill>
                    <a:srgbClr val="33333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current AI maturity level</a:t>
              </a: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, helping identify strengths and weaknesses in their approach.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Maturity Index Scorecard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The heatmap highlights potential risk areas, allowing clients to prioritize actions and enhance their AI governance framework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Risk Heatmap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3333"/>
                  </a:solidFill>
                  <a:latin typeface="TT Fors"/>
                  <a:ea typeface="TT Fors"/>
                  <a:cs typeface="TT Fors"/>
                  <a:sym typeface="TT Fors"/>
                </a:rPr>
                <a:t>Our analysis identifies opportunities for improving efficiency, ensuring that AI initiatives lead to measurable and impactful productivity gains.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Productivity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47950"/>
            <a:chOff x="0" y="0"/>
            <a:chExt cx="11099800" cy="3530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66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Are You Ready?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685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33333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Start your journey towards effective AI governance today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Apex AI™ Readiness Framework</dc:description>
  <dc:identifier>DAHBhzHNnao</dc:identifier>
  <dcterms:modified xsi:type="dcterms:W3CDTF">2011-08-01T06:04:30Z</dcterms:modified>
  <cp:revision>1</cp:revision>
  <dc:title>Presentation - Apex AI™ Readiness Framework</dc:title>
</cp:coreProperties>
</file>